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1E293B"/></a:solidFill></p:bgPr></p:bg>
    <p:spTree>
      <p:nvGrpSpPr><p:cNvPr id="1" name=""/><p:cNvGrpSpPr/><p:nvPr/></p:nvGrpSpPr>
      <p:grpSpPr/>
      
      <!-- Title Box -->
      <p:sp>
        <p:nvSpPr><p:cNvPr id="2" name="Title"/><p:cSpPr/><p:nvPr/></p:nvSpPr>
        <p:spPr>
          <a:xfrm><a:off x="685800" y="457200"/><a:ext cx="7772400" cy="914400"/></a:xfrm>
          <a:prstGeom prst="rect"><a:avLst/></a:prstGeom>
        </p:spPr>
        <p:txBody>
          <a:bodyPr/><a:lstStyle/>
          <a:p>
            <a:r>
              <a:rPr lang="en-US" sz="3600" b="1"><a:solidFill><a:srgbClr val="60A5FA"/></a:solidFill></a:rPr>
              <a:t>CodeMender: AI Application Security</a:t>
            </a:r>
          </a:p>
        </p:txBody>
      </p:sp>
      
      <!-- Subtitle or Body Box -->
      <p:sp>
        <p:nvSpPr><p:cNvPr id="3" name="Content"/><p:cSpPr/><p:nvPr/></p:nvSpPr>
        <p:spPr>
          <a:xfrm><a:off x="685800" y="1485900"/><a:ext cx="7772400" cy="3200400"/></a:xfrm>
          <a:prstGeom prst="rect"><a:avLst/></a:prstGeom>
        </p:spPr>
        <p:txBody>
          <a:bodyPr/><a:lstStyle/>
          <a:p>
            <a:r>
              <a:rPr lang="en-US" sz="1800" i="1"><a:solidFill><a:srgbClr val="4B5563"/></a:solidFill></a:rPr>
              <a:t>Autonomous Vulnerability Discovery & Automated Remediation in CI/CD</a:t>
            </a:r>
          </a:p>
          <a:p>
            <a:pPr lvl="0"/>
            <a:r>
              <a:rPr lang="en-US" sz="1600"><a:solidFill><a:srgbClr val="E5E7EB"/></a:solidFill></a:rPr>
              <a:t>• Enterprise CI/CD Security Automation</a:t>
            </a:r>
          </a:p>
          <a:p>
            <a:pPr lvl="0"/>
            <a:r>
              <a:rPr lang="en-US" sz="1600"><a:solidFill><a:srgbClr val="E5E7EB"/></a:solidFill></a:rPr>
              <a:t>• Keyless Workload Identity Federation</a:t>
            </a:r>
          </a:p>
          <a:p>
            <a:pPr lvl="0"/>
            <a:r>
              <a:rPr lang="en-US" sz="1600"><a:solidFill><a:srgbClr val="E5E7EB"/></a:solidFill></a:rPr>
              <a:t>• Vertex AI LLM Reasoning Engine</a:t>
            </a:r>
          </a:p>
        </p:txBody>
      </p:sp>
    </p:spTree>
  </p:cSld>
</p:sld>
</file>

<file path=ppt/slides/slide2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FFFFF"/></a:solidFill></p:bgPr></p:bg>
    <p:spTree>
      <p:nvGrpSpPr><p:cNvPr id="1" name=""/><p:cNvGrpSpPr/><p:nvPr/></p:nvGrpSpPr>
      <p:grpSpPr/>
      
      <!-- Title Box -->
      <p:sp>
        <p:nvSpPr><p:cNvPr id="2" name="Title"/><p:cSpPr/><p:nvPr/></p:nvSpPr>
        <p:spPr>
          <a:xfrm><a:off x="685800" y="457200"/><a:ext cx="7772400" cy="914400"/></a:xfrm>
          <a:prstGeom prst="rect"><a:avLst/></a:prstGeom>
        </p:spPr>
        <p:txBody>
          <a:bodyPr/><a:lstStyle/>
          <a:p>
            <a:r>
              <a:rPr lang="en-US" sz="3200" b="1"><a:solidFill><a:srgbClr val="1E40AF"/></a:solidFill></a:rPr>
              <a:t>Executive Overview & The Problem</a:t>
            </a:r>
          </a:p>
        </p:txBody>
      </p:sp>
      
      <!-- Subtitle or Body Box -->
      <p:sp>
        <p:nvSpPr><p:cNvPr id="3" name="Content"/><p:cSpPr/><p:nvPr/></p:nvSpPr>
        <p:spPr>
          <a:xfrm><a:off x="685800" y="1485900"/><a:ext cx="7772400" cy="3200400"/></a:xfrm>
          <a:prstGeom prst="rect"><a:avLst/></a:prstGeom>
        </p:spPr>
        <p:txBody>
          <a:bodyPr/><a:lstStyle/>
          <a:p>
            <a:r>
              <a:rPr lang="en-US" sz="1800" i="1"><a:solidFill><a:srgbClr val="4B5563"/></a:solidFill></a:rPr>
              <a:t>Traditional SAST Bottlenecks vs. CodeMender AI Security Engineer</a:t>
            </a:r>
          </a:p>
          <a:p>
            <a:pPr lvl="0"/>
            <a:r>
              <a:rPr lang="en-US" sz="1600"><a:solidFill><a:srgbClr val="374151"/></a:solidFill></a:rPr>
              <a:t>• Problem: Traditional security tools produce high false-positive rates & manual triage overhead</a:t>
            </a:r>
          </a:p>
          <a:p>
            <a:pPr lvl="0"/>
            <a:r>
              <a:rPr lang="en-US" sz="1600"><a:solidFill><a:srgbClr val="374151"/></a:solidFill></a:rPr>
              <a:t>• Problem: Vulnerability fixes require manual developer intervention and context switching</a:t>
            </a:r>
          </a:p>
          <a:p>
            <a:pPr lvl="0"/>
            <a:r>
              <a:rPr lang="en-US" sz="1600"><a:solidFill><a:srgbClr val="374151"/></a:solidFill></a:rPr>
              <a:t>• Solution: CodeMender acts as an autonomous AI Security Engineer directly inside your CI/CD pipeline</a:t>
            </a:r>
          </a:p>
          <a:p>
            <a:pPr lvl="0"/>
            <a:r>
              <a:rPr lang="en-US" sz="1600"><a:solidFill><a:srgbClr val="374151"/></a:solidFill></a:rPr>
              <a:t>• Solution: Automatically discovers vulnerabilities, proves exploitability, and opens fix Pull Requests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!-- Title Box -->
      <p:sp>
        <p:nvSpPr>
          <p:cNvPr id="2" name="Title"/>
          <p:cSpPr/>
          <p:nvPr/>
        </p:nvSpPr>
        <p:spPr>
          <a:xfrm>
            <a:off x="685800" y="4572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en-US" sz="3200" b="1">
                <a:solidFill>
                  <a:srgbClr val="1E40AF"/>
                </a:solidFill>
              </a:rPr>
              <a:t>CI/CD Architecture Workflow</a:t>
            </a:r>
          </a:p>
        </p:txBody>
      </p:sp>
      <!-- Subtitle or Body Box -->
      <p:sp>
        <p:nvSpPr>
          <p:cNvPr id="3" name="Content"/>
          <p:cSpPr/>
          <p:nvPr/>
        </p:nvSpPr>
        <p:spPr>
          <a:xfrm>
            <a:off x="685800" y="1485900"/>
            <a:ext cx="7772400" cy="3200400"/>
          </a:xfrm>
          <a:prstGeom prst="rect">
            <a:avLst/>
          </a:prstGeom>
        </p:spPr>
        <p:txBody>
          <a:bodyPr/>
          <a:lstStyle/>
          <a:p>
            <a:r>
              <a:rPr lang="en-US" sz="1800" i="1">
                <a:solidFill>
                  <a:srgbClr val="4B5563"/>
                </a:solidFill>
              </a:rPr>
              <a:t>End-to-End Execution Flow from Code Push to Automated PR</a:t>
            </a:r>
          </a:p>
          <a:p>
            <a:pPr lvl="0"/>
            <a:r>
              <a:rPr lang="en-US" sz="1600">
                <a:solidFill>
                  <a:srgbClr val="374151"/>
                </a:solidFill>
              </a:rPr>
              <a:t>• 1. Developer Push: Code pushed to main branch triggers GitHub Actions workflow</a:t>
            </a:r>
          </a:p>
          <a:p>
            <a:pPr lvl="0"/>
            <a:r>
              <a:rPr lang="en-US" sz="1600">
                <a:solidFill>
                  <a:srgbClr val="374151"/>
                </a:solidFill>
              </a:rPr>
              <a:t>• 2. Keyless Auth: Workflow authenticates to GCP using Workload Identity Federation (WIF)</a:t>
            </a:r>
          </a:p>
          <a:p>
            <a:pPr lvl="0"/>
            <a:r>
              <a:rPr lang="en-US" sz="1600">
                <a:solidFill>
                  <a:srgbClr val="374151"/>
                </a:solidFill>
              </a:rPr>
              <a:t>• 3. AI Discovery: Standalone CodeMender CLI (cm find) scans codebase with Vertex AI</a:t>
            </a:r>
          </a:p>
          <a:p>
            <a:pPr lvl="0"/>
            <a:r>
              <a:rPr lang="en-US" sz="1600">
                <a:solidFill>
                  <a:srgbClr val="374151"/>
                </a:solidFill>
              </a:rPr>
              <a:t>• 4. Security Upload: Findings exported as SARIF 2.1.0 into GitHub Code Scanning dashboard</a:t>
            </a:r>
          </a:p>
          <a:p>
            <a:pPr lvl="0"/>
            <a:r>
              <a:rPr lang="en-US" sz="1600">
                <a:solidFill>
                  <a:srgbClr val="374151"/>
                </a:solidFill>
              </a:rPr>
              <a:t>• 5. Formal Verification: cm verify synthesizes exploits and validates against test suites</a:t>
            </a:r>
          </a:p>
          <a:p>
            <a:pPr lvl="0"/>
            <a:r>
              <a:rPr lang="en-US" sz="1600">
                <a:solidFill>
                  <a:srgbClr val="374151"/>
                </a:solidFill>
              </a:rPr>
              <a:t>• 6. Automated Fix PR: cm fix generates clean code patches and opens ready-to-merge PRs</a:t>
            </a:r>
          </a:p>
        </p:txBody>
      </p:sp>
    </p:spTree>
  </p:cSld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FFFFF"/></a:solidFill></p:bgPr></p:bg>
    <p:spTree>
      <p:nvGrpSpPr><p:cNvPr id="1" name=""/><p:cNvGrpSpPr/><p:nvPr/></p:nvGrpSpPr>
      <p:grpSpPr/>
      
      <!-- Title Box -->
      <p:sp>
        <p:nvSpPr><p:cNvPr id="2" name="Title"/><p:cSpPr/><p:nvPr/></p:nvSpPr>
        <p:spPr>
          <a:xfrm><a:off x="685800" y="457200"/><a:ext cx="7772400" cy="914400"/></a:xfrm>
          <a:prstGeom prst="rect"><a:avLst/></a:prstGeom>
        </p:spPr>
        <p:txBody>
          <a:bodyPr/><a:lstStyle/>
          <a:p>
            <a:r>
              <a:rPr lang="en-US" sz="3200" b="1"><a:solidFill><a:srgbClr val="1E40AF"/></a:solidFill></a:rPr>
              <a:t>Key Architecture & Security Components</a:t>
            </a:r>
          </a:p>
        </p:txBody>
      </p:sp>
      
      <!-- Subtitle or Body Box -->
      <p:sp>
        <p:nvSpPr><p:cNvPr id="3" name="Content"/><p:cSpPr/><p:nvPr/></p:nvSpPr>
        <p:spPr>
          <a:xfrm><a:off x="685800" y="1485900"/><a:ext cx="7772400" cy="3200400"/></a:xfrm>
          <a:prstGeom prst="rect"><a:avLst/></a:prstGeom>
        </p:spPr>
        <p:txBody>
          <a:bodyPr/><a:lstStyle/>
          <a:p>
            <a:r>
              <a:rPr lang="en-US" sz="1800" i="1"><a:solidFill><a:srgbClr val="4B5563"/></a:solidFill></a:rPr>
              <a:t>Core Technical Foundations of CodeMender Integration</a:t>
            </a:r>
          </a:p>
          <a:p>
            <a:pPr lvl="0"/>
            <a:r>
              <a:rPr lang="en-US" sz="1600"><a:solidFill><a:srgbClr val="374151"/></a:solidFill></a:rPr>
              <a:t>• Workload Identity Federation (WIF): Short-lived keyless OIDC authentication (Zero long-lived keys)</a:t>
            </a:r>
          </a:p>
          <a:p>
            <a:pPr lvl="0"/>
            <a:r>
              <a:rPr lang="en-US" sz="1600"><a:solidFill><a:srgbClr val="374151"/></a:solidFill></a:rPr>
              <a:t>• CodeMender Standalone CLI (cm): Statically linked Go binary embedded into runner environment</a:t>
            </a:r>
          </a:p>
          <a:p>
            <a:pPr lvl="0"/>
            <a:r>
              <a:rPr lang="en-US" sz="1600"><a:solidFill><a:srgbClr val="374151"/></a:solidFill></a:rPr>
              <a:t>• Vertex AI LLM Engine: Multi-step reasoning powered by gemini-3.8-flash model</a:t>
            </a:r>
          </a:p>
          <a:p>
            <a:pPr lvl="0"/>
            <a:r>
              <a:rPr lang="en-US" sz="1600"><a:solidFill><a:srgbClr val="374151"/></a:solidFill></a:rPr>
              <a:t>• GitHub Code Scanning: Native SARIF integration for centralized vulnerability tracking</a:t>
            </a:r>
          </a:p>
          <a:p>
            <a:pPr lvl="0"/>
            <a:r>
              <a:rPr lang="en-US" sz="1600"><a:solidFill><a:srgbClr val="374151"/></a:solidFill></a:rPr>
              <a:t>• Pytest Verification Suite: Guarantees 0 regressions by running tests before/after patching</a:t>
            </a:r>
          </a:p>
        </p:txBody>
      </p:sp>
    </p:spTree>
  </p:cSld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FFFFFF"/></a:solidFill></p:bgPr></p:bg>
    <p:spTree>
      <p:nvGrpSpPr><p:cNvPr id="1" name=""/><p:cNvGrpSpPr/><p:nvPr/></p:nvGrpSpPr>
      <p:grpSpPr/>
      
      <!-- Title Box -->
      <p:sp>
        <p:nvSpPr><p:cNvPr id="2" name="Title"/><p:cSpPr/><p:nvPr/></p:nvSpPr>
        <p:spPr>
          <a:xfrm><a:off x="685800" y="457200"/><a:ext cx="7772400" cy="914400"/></a:xfrm>
          <a:prstGeom prst="rect"><a:avLst/></a:prstGeom>
        </p:spPr>
        <p:txBody>
          <a:bodyPr/><a:lstStyle/>
          <a:p>
            <a:r>
              <a:rPr lang="en-US" sz="3200" b="1"><a:solidFill><a:srgbClr val="1E40AF"/></a:solidFill></a:rPr>
              <a:t>Automated Verification & Remediation Deep Dive</a:t>
            </a:r>
          </a:p>
        </p:txBody>
      </p:sp>
      
      <!-- Subtitle or Body Box -->
      <p:sp>
        <p:nvSpPr><p:cNvPr id="3" name="Content"/><p:cSpPr/><p:nvPr/></p:nvSpPr>
        <p:spPr>
          <a:xfrm><a:off x="685800" y="1485900"/><a:ext cx="7772400" cy="3200400"/></a:xfrm>
          <a:prstGeom prst="rect"><a:avLst/></a:prstGeom>
        </p:spPr>
        <p:txBody>
          <a:bodyPr/><a:lstStyle/>
          <a:p>
            <a:r>
              <a:rPr lang="en-US" sz="1800" i="1"><a:solidFill><a:srgbClr val="4B5563"/></a:solidFill></a:rPr>
              <a:t>How CodeMender Eliminates False Positives & Writes Fixes</a:t>
            </a:r>
          </a:p>
          <a:p>
            <a:pPr lvl="0"/>
            <a:r>
              <a:rPr lang="en-US" sz="1600"><a:solidFill><a:srgbClr val="374151"/></a:solidFill></a:rPr>
              <a:t>• 100% Exploit Verification: Synthesizes proof-of-concept HTTP payloads to confirm vulnerabilities</a:t>
            </a:r>
          </a:p>
          <a:p>
            <a:pPr lvl="0"/>
            <a:r>
              <a:rPr lang="en-US" sz="1600"><a:solidFill><a:srgbClr val="374151"/></a:solidFill></a:rPr>
              <a:t>• Context-Aware Patching: Replaces string-formatted SQL with parameterized queries</a:t>
            </a:r>
          </a:p>
          <a:p>
            <a:pPr lvl="0"/>
            <a:r>
              <a:rPr lang="en-US" sz="1600"><a:solidFill><a:srgbClr val="374151"/></a:solidFill></a:rPr>
              <a:t>• Safe Command Execution: Replaces os.system() with subprocess array execution</a:t>
            </a:r>
          </a:p>
          <a:p>
            <a:pPr lvl="0"/>
            <a:r>
              <a:rPr lang="en-US" sz="1600"><a:solidFill><a:srgbClr val="374151"/></a:solidFill></a:rPr>
              <a:t>• Automated Regression Checks: Validates that code functionality remains intact post-fix</a:t>
            </a:r>
          </a:p>
        </p:txBody>
      </p:sp>
    </p:spTree>
  </p:cSld>
</p:sld>
</file>

<file path=ppt/slides/slide6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1E293B"/></a:solidFill></p:bgPr></p:bg>
    <p:spTree>
      <p:nvGrpSpPr><p:cNvPr id="1" name=""/><p:cNvGrpSpPr/><p:nvPr/></p:nvGrpSpPr>
      <p:grpSpPr/>
      
      <!-- Title Box -->
      <p:sp>
        <p:nvSpPr><p:cNvPr id="2" name="Title"/><p:cSpPr/><p:nvPr/></p:nvSpPr>
        <p:spPr>
          <a:xfrm><a:off x="685800" y="457200"/><a:ext cx="7772400" cy="914400"/></a:xfrm>
          <a:prstGeom prst="rect"><a:avLst/></a:prstGeom>
        </p:spPr>
        <p:txBody>
          <a:bodyPr/><a:lstStyle/>
          <a:p>
            <a:r>
              <a:rPr lang="en-US" sz="3600" b="1"><a:solidFill><a:srgbClr val="60A5FA"/></a:solidFill></a:rPr>
              <a:t>Business Value & Customer Impact</a:t>
            </a:r>
          </a:p>
        </p:txBody>
      </p:sp>
      
      <!-- Subtitle or Body Box -->
      <p:sp>
        <p:nvSpPr><p:cNvPr id="3" name="Content"/><p:cSpPr/><p:nvPr/></p:nvSpPr>
        <p:spPr>
          <a:xfrm><a:off x="685800" y="1485900"/><a:ext cx="7772400" cy="3200400"/></a:xfrm>
          <a:prstGeom prst="rect"><a:avLst/></a:prstGeom>
        </p:spPr>
        <p:txBody>
          <a:bodyPr/><a:lstStyle/>
          <a:p>
            <a:r>
              <a:rPr lang="en-US" sz="1800" i="1"><a:solidFill><a:srgbClr val="4B5563"/></a:solidFill></a:rPr>
              <a:t>Transforming Application Security Efficiency</a:t>
            </a:r>
          </a:p>
          <a:p>
            <a:pPr lvl="0"/>
            <a:r>
              <a:rPr lang="en-US" sz="1600"><a:solidFill><a:srgbClr val="E5E7EB"/></a:solidFill></a:rPr>
              <a:t>• 90%+ Reduction in Triage Time: Automated verification filters out non-exploitable noise</a:t>
            </a:r>
          </a:p>
          <a:p>
            <a:pPr lvl="0"/>
            <a:r>
              <a:rPr lang="en-US" sz="1600"><a:solidFill><a:srgbClr val="E5E7EB"/></a:solidFill></a:rPr>
              <a:t>• Accelerated Developer Velocity: Developers receive ready-to-merge PRs instead of bug reports</a:t>
            </a:r>
          </a:p>
          <a:p>
            <a:pPr lvl="0"/>
            <a:r>
              <a:rPr lang="en-US" sz="1600"><a:solidFill><a:srgbClr val="E5E7EB"/></a:solidFill></a:rPr>
              <a:t>• Enterprise Governance: Complete audit trail, SARIF compliance, and keyless GCP IAM security</a:t>
            </a:r>
          </a:p>
          <a:p>
            <a:pPr lvl="0"/>
            <a:r>
              <a:rPr lang="en-US" sz="1600"><a:solidFill><a:srgbClr val="E5E7EB"/></a:solidFill></a:rPr>
              <a:t>• Continuous Protection: Zero-delay security checks on every code commit</a:t>
            </a:r>
          </a:p>
        </p:txBody>
      </p:sp>
    </p:spTree>
  </p:cSld>
</p:sld>
</file>